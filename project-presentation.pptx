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</p:sldIdLst>
  <p:sldSz cx="18288000" cy="10287000"/>
  <p:notesSz cx="6858000" cy="9144000"/>
  <p:embeddedFontLst>
    <p:embeddedFont>
      <p:font typeface="Telegraf" panose="020B0604020202020204" charset="0"/>
      <p:regular r:id="rId11"/>
    </p:embeddedFont>
    <p:embeddedFont>
      <p:font typeface="Telegraf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hana reddy" initials="mr" lastIdx="3" clrIdx="0">
    <p:extLst>
      <p:ext uri="{19B8F6BF-5375-455C-9EA6-DF929625EA0E}">
        <p15:presenceInfo xmlns:p15="http://schemas.microsoft.com/office/powerpoint/2012/main" userId="be6e6e72fa2540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38" y="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 reddy" userId="be6e6e72fa25404f" providerId="LiveId" clId="{7045EEDD-2A93-4F1B-ABD7-8F2E94F35CCE}"/>
    <pc:docChg chg="modSld">
      <pc:chgData name="meghana reddy" userId="be6e6e72fa25404f" providerId="LiveId" clId="{7045EEDD-2A93-4F1B-ABD7-8F2E94F35CCE}" dt="2026-09-11T09:33:32.171" v="0" actId="1076"/>
      <pc:docMkLst>
        <pc:docMk/>
      </pc:docMkLst>
      <pc:sldChg chg="modSp mod">
        <pc:chgData name="meghana reddy" userId="be6e6e72fa25404f" providerId="LiveId" clId="{7045EEDD-2A93-4F1B-ABD7-8F2E94F35CCE}" dt="2026-09-11T09:33:32.171" v="0" actId="1076"/>
        <pc:sldMkLst>
          <pc:docMk/>
          <pc:sldMk cId="0" sldId="260"/>
        </pc:sldMkLst>
        <pc:spChg chg="mod">
          <ac:chgData name="meghana reddy" userId="be6e6e72fa25404f" providerId="LiveId" clId="{7045EEDD-2A93-4F1B-ABD7-8F2E94F35CCE}" dt="2026-09-11T09:33:32.171" v="0" actId="1076"/>
          <ac:spMkLst>
            <pc:docMk/>
            <pc:sldMk cId="0" sldId="260"/>
            <ac:spMk id="1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fif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fif"/><Relationship Id="rId5" Type="http://schemas.openxmlformats.org/officeDocument/2006/relationships/image" Target="../media/image8.jfif"/><Relationship Id="rId4" Type="http://schemas.openxmlformats.org/officeDocument/2006/relationships/image" Target="../media/image7.jf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fif"/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f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fif"/><Relationship Id="rId4" Type="http://schemas.openxmlformats.org/officeDocument/2006/relationships/image" Target="../media/image16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fif"/><Relationship Id="rId4" Type="http://schemas.openxmlformats.org/officeDocument/2006/relationships/image" Target="../media/image19.jf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51303"/>
            <a:ext cx="314205" cy="314205"/>
          </a:xfrm>
          <a:custGeom>
            <a:avLst/>
            <a:gdLst/>
            <a:ahLst/>
            <a:cxnLst/>
            <a:rect l="l" t="t" r="r" b="b"/>
            <a:pathLst>
              <a:path w="314205" h="314205">
                <a:moveTo>
                  <a:pt x="0" y="0"/>
                </a:moveTo>
                <a:lnTo>
                  <a:pt x="314205" y="0"/>
                </a:lnTo>
                <a:lnTo>
                  <a:pt x="314205" y="314204"/>
                </a:lnTo>
                <a:lnTo>
                  <a:pt x="0" y="314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263" y="4997849"/>
            <a:ext cx="18288000" cy="5509456"/>
            <a:chOff x="0" y="0"/>
            <a:chExt cx="4816593" cy="14510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451050"/>
            </a:xfrm>
            <a:custGeom>
              <a:avLst/>
              <a:gdLst/>
              <a:ahLst/>
              <a:cxnLst/>
              <a:rect l="l" t="t" r="r" b="b"/>
              <a:pathLst>
                <a:path w="4816592" h="1451050">
                  <a:moveTo>
                    <a:pt x="0" y="0"/>
                  </a:moveTo>
                  <a:lnTo>
                    <a:pt x="4816592" y="0"/>
                  </a:lnTo>
                  <a:lnTo>
                    <a:pt x="4816592" y="1451050"/>
                  </a:lnTo>
                  <a:lnTo>
                    <a:pt x="0" y="145105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16593" cy="1479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00300" y="4777544"/>
            <a:ext cx="11287700" cy="5509456"/>
            <a:chOff x="0" y="0"/>
            <a:chExt cx="1748760" cy="8535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8760" cy="853559"/>
            </a:xfrm>
            <a:custGeom>
              <a:avLst/>
              <a:gdLst/>
              <a:ahLst/>
              <a:cxnLst/>
              <a:rect l="l" t="t" r="r" b="b"/>
              <a:pathLst>
                <a:path w="1748760" h="853559">
                  <a:moveTo>
                    <a:pt x="0" y="0"/>
                  </a:moveTo>
                  <a:lnTo>
                    <a:pt x="1748760" y="0"/>
                  </a:lnTo>
                  <a:lnTo>
                    <a:pt x="1748760" y="853559"/>
                  </a:lnTo>
                  <a:lnTo>
                    <a:pt x="0" y="853559"/>
                  </a:lnTo>
                  <a:close/>
                </a:path>
              </a:pathLst>
            </a:custGeom>
            <a:blipFill>
              <a:blip r:embed="rId3"/>
              <a:stretch>
                <a:fillRect t="-18250" b="-1825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2395968" y="7286879"/>
            <a:ext cx="2051722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0" y="4777544"/>
            <a:ext cx="18288000" cy="93910"/>
            <a:chOff x="0" y="0"/>
            <a:chExt cx="4816593" cy="24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4733"/>
            </a:xfrm>
            <a:custGeom>
              <a:avLst/>
              <a:gdLst/>
              <a:ahLst/>
              <a:cxnLst/>
              <a:rect l="l" t="t" r="r" b="b"/>
              <a:pathLst>
                <a:path w="4816592" h="24733">
                  <a:moveTo>
                    <a:pt x="0" y="0"/>
                  </a:moveTo>
                  <a:lnTo>
                    <a:pt x="4816592" y="0"/>
                  </a:lnTo>
                  <a:lnTo>
                    <a:pt x="4816592" y="24733"/>
                  </a:lnTo>
                  <a:lnTo>
                    <a:pt x="0" y="247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816593" cy="5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2395968" y="9098334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162027" y="0"/>
                </a:moveTo>
                <a:lnTo>
                  <a:pt x="0" y="0"/>
                </a:lnTo>
                <a:lnTo>
                  <a:pt x="0" y="159966"/>
                </a:lnTo>
                <a:lnTo>
                  <a:pt x="162027" y="159966"/>
                </a:lnTo>
                <a:lnTo>
                  <a:pt x="16202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890291" y="2534859"/>
            <a:ext cx="11429101" cy="156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6"/>
              </a:lnSpc>
            </a:pPr>
            <a:r>
              <a:rPr lang="en-US" sz="12717" spc="-63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CLASSROOM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98347" y="605852"/>
            <a:ext cx="9012988" cy="156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6"/>
              </a:lnSpc>
            </a:pPr>
            <a:r>
              <a:rPr lang="en-US" sz="12717" b="1" spc="-63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SMART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7307" y="1019175"/>
            <a:ext cx="832997" cy="38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42">
                <a:solidFill>
                  <a:srgbClr val="E8E8E8"/>
                </a:solidFill>
                <a:latin typeface="Telegraf Bold"/>
                <a:ea typeface="Telegraf Bold"/>
                <a:cs typeface="Telegraf Bold"/>
                <a:sym typeface="Telegraf Bold"/>
              </a:rPr>
              <a:t>Studio ShodwE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263" y="5500104"/>
            <a:ext cx="7121304" cy="4581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7"/>
              </a:lnSpc>
            </a:pPr>
            <a:r>
              <a:rPr lang="en-US" sz="5048" b="1" spc="-151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ACCURATE OCCUPANCY-BASED LIGHTING CONTROL SYSTEM ACHIEVING 30-50% ENERGY SAVINGS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C02373-43F1-2FEE-7E34-64230CF2A2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297" y="4852403"/>
            <a:ext cx="11287700" cy="5654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66536" y="4290629"/>
            <a:ext cx="10098073" cy="4213864"/>
            <a:chOff x="0" y="-28575"/>
            <a:chExt cx="2659575" cy="11098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59575" cy="1081249"/>
            </a:xfrm>
            <a:custGeom>
              <a:avLst/>
              <a:gdLst/>
              <a:ahLst/>
              <a:cxnLst/>
              <a:rect l="l" t="t" r="r" b="b"/>
              <a:pathLst>
                <a:path w="2659575" h="1081249">
                  <a:moveTo>
                    <a:pt x="0" y="0"/>
                  </a:moveTo>
                  <a:lnTo>
                    <a:pt x="2659575" y="0"/>
                  </a:lnTo>
                  <a:lnTo>
                    <a:pt x="2659575" y="1081249"/>
                  </a:lnTo>
                  <a:lnTo>
                    <a:pt x="0" y="1081249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659575" cy="1109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7211" y="1028700"/>
            <a:ext cx="4851491" cy="8229600"/>
            <a:chOff x="0" y="0"/>
            <a:chExt cx="2590524" cy="43943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90524" cy="4394314"/>
            </a:xfrm>
            <a:custGeom>
              <a:avLst/>
              <a:gdLst/>
              <a:ahLst/>
              <a:cxnLst/>
              <a:rect l="l" t="t" r="r" b="b"/>
              <a:pathLst>
                <a:path w="2590524" h="4394314">
                  <a:moveTo>
                    <a:pt x="0" y="0"/>
                  </a:moveTo>
                  <a:lnTo>
                    <a:pt x="2590524" y="0"/>
                  </a:lnTo>
                  <a:lnTo>
                    <a:pt x="2590524" y="4394314"/>
                  </a:lnTo>
                  <a:lnTo>
                    <a:pt x="0" y="4394314"/>
                  </a:lnTo>
                  <a:close/>
                </a:path>
              </a:pathLst>
            </a:custGeom>
            <a:blipFill>
              <a:blip r:embed="rId2"/>
              <a:stretch>
                <a:fillRect l="-63086" r="-63086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8566881" y="6798687"/>
            <a:ext cx="7286764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7097272" y="3144408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0" y="0"/>
                </a:moveTo>
                <a:lnTo>
                  <a:pt x="162028" y="0"/>
                </a:lnTo>
                <a:lnTo>
                  <a:pt x="162028" y="159965"/>
                </a:lnTo>
                <a:lnTo>
                  <a:pt x="0" y="159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161227" y="1238173"/>
            <a:ext cx="8890962" cy="1236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67"/>
              </a:lnSpc>
            </a:pPr>
            <a:r>
              <a:rPr lang="en-US" sz="11224" spc="-561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SPECIFIC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61227" y="2343567"/>
            <a:ext cx="8890962" cy="1236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67"/>
              </a:lnSpc>
            </a:pPr>
            <a:r>
              <a:rPr lang="en-US" sz="11224" b="1" spc="-56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66881" y="6137618"/>
            <a:ext cx="7286764" cy="25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4"/>
              </a:lnSpc>
            </a:pPr>
            <a:endParaRPr lang="en-US" sz="1712" b="1" spc="-51" dirty="0">
              <a:solidFill>
                <a:srgbClr val="FFDE59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052188" y="1051303"/>
            <a:ext cx="314205" cy="314205"/>
          </a:xfrm>
          <a:custGeom>
            <a:avLst/>
            <a:gdLst/>
            <a:ahLst/>
            <a:cxnLst/>
            <a:rect l="l" t="t" r="r" b="b"/>
            <a:pathLst>
              <a:path w="314205" h="314205">
                <a:moveTo>
                  <a:pt x="0" y="0"/>
                </a:moveTo>
                <a:lnTo>
                  <a:pt x="314205" y="0"/>
                </a:lnTo>
                <a:lnTo>
                  <a:pt x="314205" y="314204"/>
                </a:lnTo>
                <a:lnTo>
                  <a:pt x="0" y="314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490796" y="1019175"/>
            <a:ext cx="832997" cy="38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42">
                <a:solidFill>
                  <a:srgbClr val="E8E8E8"/>
                </a:solidFill>
                <a:latin typeface="Telegraf Bold"/>
                <a:ea typeface="Telegraf Bold"/>
                <a:cs typeface="Telegraf Bold"/>
                <a:sym typeface="Telegraf Bold"/>
              </a:rPr>
              <a:t>Studio ShodwE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77200" y="5448301"/>
            <a:ext cx="8987409" cy="2193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IN" sz="2000" spc="-14" dirty="0">
                <a:solidFill>
                  <a:srgbClr val="E8E8E8"/>
                </a:solidFill>
                <a:latin typeface="Telegraf"/>
                <a:ea typeface="Telegraf"/>
                <a:cs typeface="Telegraf"/>
                <a:sym typeface="Telegraf"/>
              </a:rPr>
              <a:t>‣Bidirectional people counting using dual IR sensors</a:t>
            </a:r>
          </a:p>
          <a:p>
            <a:pPr>
              <a:lnSpc>
                <a:spcPts val="1680"/>
              </a:lnSpc>
            </a:pPr>
            <a:endParaRPr lang="en-IN" sz="2000" spc="-14" dirty="0">
              <a:solidFill>
                <a:srgbClr val="E8E8E8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>
              <a:lnSpc>
                <a:spcPts val="1680"/>
              </a:lnSpc>
            </a:pPr>
            <a:r>
              <a:rPr lang="en-IN" sz="2000" spc="-14" dirty="0">
                <a:solidFill>
                  <a:srgbClr val="E8E8E8"/>
                </a:solidFill>
                <a:latin typeface="Telegraf"/>
                <a:ea typeface="Telegraf"/>
                <a:cs typeface="Telegraf"/>
                <a:sym typeface="Telegraf"/>
              </a:rPr>
              <a:t>‣Automatic light control (ON ≥1 person, OFF when</a:t>
            </a:r>
          </a:p>
          <a:p>
            <a:pPr>
              <a:lnSpc>
                <a:spcPts val="1680"/>
              </a:lnSpc>
            </a:pPr>
            <a:r>
              <a:rPr lang="en-IN" sz="2000" spc="-14" dirty="0">
                <a:solidFill>
                  <a:srgbClr val="E8E8E8"/>
                </a:solidFill>
                <a:latin typeface="Telegraf"/>
                <a:ea typeface="Telegraf"/>
                <a:cs typeface="Telegraf"/>
                <a:sym typeface="Telegraf"/>
              </a:rPr>
              <a:t>empty)</a:t>
            </a:r>
          </a:p>
          <a:p>
            <a:pPr>
              <a:lnSpc>
                <a:spcPts val="1680"/>
              </a:lnSpc>
            </a:pPr>
            <a:endParaRPr lang="en-IN" sz="2000" spc="-14" dirty="0">
              <a:solidFill>
                <a:srgbClr val="E8E8E8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>
              <a:lnSpc>
                <a:spcPts val="1680"/>
              </a:lnSpc>
            </a:pPr>
            <a:r>
              <a:rPr lang="en-IN" sz="2000" spc="-14" dirty="0">
                <a:solidFill>
                  <a:srgbClr val="E8E8E8"/>
                </a:solidFill>
                <a:latin typeface="Telegraf"/>
                <a:ea typeface="Telegraf"/>
                <a:cs typeface="Telegraf"/>
                <a:sym typeface="Telegraf"/>
              </a:rPr>
              <a:t>‣Live occupancy display on LCD</a:t>
            </a:r>
          </a:p>
          <a:p>
            <a:pPr>
              <a:lnSpc>
                <a:spcPts val="1680"/>
              </a:lnSpc>
            </a:pPr>
            <a:endParaRPr lang="en-IN" sz="2000" spc="-14" dirty="0">
              <a:solidFill>
                <a:srgbClr val="E8E8E8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>
              <a:lnSpc>
                <a:spcPts val="1680"/>
              </a:lnSpc>
            </a:pPr>
            <a:r>
              <a:rPr lang="en-IN" sz="2000" spc="-14" dirty="0">
                <a:solidFill>
                  <a:srgbClr val="E8E8E8"/>
                </a:solidFill>
                <a:latin typeface="Telegraf"/>
                <a:ea typeface="Telegraf"/>
                <a:cs typeface="Telegraf"/>
                <a:sym typeface="Telegraf"/>
              </a:rPr>
              <a:t>‣Manual override for faculty</a:t>
            </a:r>
          </a:p>
          <a:p>
            <a:pPr>
              <a:lnSpc>
                <a:spcPts val="1680"/>
              </a:lnSpc>
            </a:pPr>
            <a:endParaRPr lang="en-IN" sz="2000" spc="-14" dirty="0">
              <a:solidFill>
                <a:srgbClr val="E8E8E8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>
              <a:lnSpc>
                <a:spcPts val="1680"/>
              </a:lnSpc>
            </a:pPr>
            <a:r>
              <a:rPr lang="en-IN" sz="2000" spc="-14" dirty="0">
                <a:solidFill>
                  <a:srgbClr val="E8E8E8"/>
                </a:solidFill>
                <a:latin typeface="Telegraf"/>
                <a:ea typeface="Telegraf"/>
                <a:cs typeface="Telegraf"/>
                <a:sym typeface="Telegraf"/>
              </a:rPr>
              <a:t>‣Buzzer alert when room empties</a:t>
            </a:r>
            <a:endParaRPr lang="en-US" sz="2000" spc="-14" dirty="0">
              <a:solidFill>
                <a:srgbClr val="E8E8E8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028700" y="1028700"/>
            <a:ext cx="128511" cy="8229600"/>
            <a:chOff x="0" y="0"/>
            <a:chExt cx="33847" cy="21674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847" cy="2167467"/>
            </a:xfrm>
            <a:custGeom>
              <a:avLst/>
              <a:gdLst/>
              <a:ahLst/>
              <a:cxnLst/>
              <a:rect l="l" t="t" r="r" b="b"/>
              <a:pathLst>
                <a:path w="33847" h="2167467">
                  <a:moveTo>
                    <a:pt x="0" y="0"/>
                  </a:moveTo>
                  <a:lnTo>
                    <a:pt x="33847" y="0"/>
                  </a:lnTo>
                  <a:lnTo>
                    <a:pt x="33847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3847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2B8787E0-4816-22B2-9347-7B9281CAA4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700" y="6963577"/>
            <a:ext cx="5570080" cy="3174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11604550" y="4036321"/>
            <a:ext cx="5654750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flipV="1">
            <a:off x="17097272" y="1028700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0" y="159966"/>
                </a:moveTo>
                <a:lnTo>
                  <a:pt x="162028" y="159966"/>
                </a:lnTo>
                <a:lnTo>
                  <a:pt x="162028" y="0"/>
                </a:lnTo>
                <a:lnTo>
                  <a:pt x="0" y="0"/>
                </a:lnTo>
                <a:lnTo>
                  <a:pt x="0" y="1599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60013" y="2732145"/>
            <a:ext cx="209419" cy="5208938"/>
            <a:chOff x="0" y="0"/>
            <a:chExt cx="55156" cy="13719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156" cy="1371901"/>
            </a:xfrm>
            <a:custGeom>
              <a:avLst/>
              <a:gdLst/>
              <a:ahLst/>
              <a:cxnLst/>
              <a:rect l="l" t="t" r="r" b="b"/>
              <a:pathLst>
                <a:path w="55156" h="1371901">
                  <a:moveTo>
                    <a:pt x="0" y="0"/>
                  </a:moveTo>
                  <a:lnTo>
                    <a:pt x="55156" y="0"/>
                  </a:lnTo>
                  <a:lnTo>
                    <a:pt x="55156" y="1371901"/>
                  </a:lnTo>
                  <a:lnTo>
                    <a:pt x="0" y="1371901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5156" cy="1400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052188" y="8902443"/>
            <a:ext cx="314205" cy="314205"/>
          </a:xfrm>
          <a:custGeom>
            <a:avLst/>
            <a:gdLst/>
            <a:ahLst/>
            <a:cxnLst/>
            <a:rect l="l" t="t" r="r" b="b"/>
            <a:pathLst>
              <a:path w="314205" h="314205">
                <a:moveTo>
                  <a:pt x="0" y="0"/>
                </a:moveTo>
                <a:lnTo>
                  <a:pt x="314205" y="0"/>
                </a:lnTo>
                <a:lnTo>
                  <a:pt x="314205" y="314204"/>
                </a:lnTo>
                <a:lnTo>
                  <a:pt x="0" y="314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1604550" y="9056682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162028" y="0"/>
                </a:moveTo>
                <a:lnTo>
                  <a:pt x="0" y="0"/>
                </a:lnTo>
                <a:lnTo>
                  <a:pt x="0" y="159965"/>
                </a:lnTo>
                <a:lnTo>
                  <a:pt x="162028" y="159965"/>
                </a:lnTo>
                <a:lnTo>
                  <a:pt x="16202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98216" y="3407249"/>
            <a:ext cx="6821873" cy="2934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77"/>
              </a:lnSpc>
            </a:pPr>
            <a:endParaRPr lang="en-IN" sz="3200" spc="-498" dirty="0">
              <a:solidFill>
                <a:srgbClr val="FFC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7877"/>
              </a:lnSpc>
            </a:pPr>
            <a:endParaRPr lang="en-US" sz="4400" spc="-498" dirty="0">
              <a:solidFill>
                <a:srgbClr val="FFC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7877"/>
              </a:lnSpc>
            </a:pPr>
            <a:endParaRPr lang="en-US" sz="4400" spc="-498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954000" y="813766"/>
            <a:ext cx="5671531" cy="36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4800" b="1" spc="-51" dirty="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04550" y="4323411"/>
            <a:ext cx="2304278" cy="21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endParaRPr lang="en-US" sz="1400" spc="-14" dirty="0">
              <a:solidFill>
                <a:srgbClr val="E8E8E8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490796" y="8870315"/>
            <a:ext cx="832997" cy="38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42">
                <a:solidFill>
                  <a:srgbClr val="E8E8E8"/>
                </a:solidFill>
                <a:latin typeface="Telegraf Bold"/>
                <a:ea typeface="Telegraf Bold"/>
                <a:cs typeface="Telegraf Bold"/>
                <a:sym typeface="Telegraf Bold"/>
              </a:rPr>
              <a:t>Studio ShodwE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5EA306-EFC7-1441-F897-6435A548D326}"/>
              </a:ext>
            </a:extLst>
          </p:cNvPr>
          <p:cNvSpPr txBox="1"/>
          <p:nvPr/>
        </p:nvSpPr>
        <p:spPr>
          <a:xfrm>
            <a:off x="3644176" y="6366032"/>
            <a:ext cx="537771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Sensors → Arduino → Light Control + </a:t>
            </a:r>
            <a:r>
              <a:rPr lang="en-IN" sz="3600" dirty="0"/>
              <a:t>L</a:t>
            </a:r>
          </a:p>
          <a:p>
            <a:r>
              <a:rPr lang="en-IN" sz="3600" dirty="0">
                <a:solidFill>
                  <a:schemeClr val="bg1"/>
                </a:solidFill>
              </a:rPr>
              <a:t>Sensors → Arduino → Light Control + LCD Display</a:t>
            </a:r>
          </a:p>
          <a:p>
            <a:r>
              <a:rPr lang="en-IN" sz="3600" dirty="0">
                <a:solidFill>
                  <a:schemeClr val="bg1"/>
                </a:solidFill>
              </a:rPr>
              <a:t>Accuracy: 100% (knows exact count)</a:t>
            </a:r>
          </a:p>
          <a:p>
            <a:r>
              <a:rPr lang="en-IN" sz="3600" dirty="0">
                <a:solidFill>
                  <a:schemeClr val="bg1"/>
                </a:solidFill>
              </a:rPr>
              <a:t>Cost: ₹800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72C02C-02B3-F0B8-CF51-1C21FB17943B}"/>
              </a:ext>
            </a:extLst>
          </p:cNvPr>
          <p:cNvSpPr txBox="1"/>
          <p:nvPr/>
        </p:nvSpPr>
        <p:spPr>
          <a:xfrm>
            <a:off x="4345306" y="6057900"/>
            <a:ext cx="3957323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rgbClr val="FFC000"/>
                </a:solidFill>
              </a:rPr>
              <a:t>Our solutions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0E35689-B4C7-0120-99C3-028C1A39A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797" y="1566141"/>
            <a:ext cx="6659845" cy="402242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C362D8-E404-92D3-2D65-66B0F6B769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362" y="343608"/>
            <a:ext cx="9437531" cy="524496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23962BC-4821-8B47-3205-B781EAD0F0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913" y="5774789"/>
            <a:ext cx="6133900" cy="41971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4676664" y="9248775"/>
            <a:ext cx="1839899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6B3B68-7382-C7B5-28EA-5C7A2EE5C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5750"/>
            <a:ext cx="6893378" cy="9715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3442EA9-5870-E670-4142-5B8DF9914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857500"/>
            <a:ext cx="10287000" cy="577215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0E1EAFE-6D8A-6E18-33AD-2B9F7C0A6B85}"/>
              </a:ext>
            </a:extLst>
          </p:cNvPr>
          <p:cNvSpPr txBox="1"/>
          <p:nvPr/>
        </p:nvSpPr>
        <p:spPr>
          <a:xfrm>
            <a:off x="8610600" y="647700"/>
            <a:ext cx="8727622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</a:rPr>
              <a:t>CIRCUIT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9688636" y="1847336"/>
            <a:ext cx="8114477" cy="168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7965" b="1" spc="-398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SURVEY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200" y="921309"/>
            <a:ext cx="2942318" cy="283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2400" b="1" spc="-51" dirty="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COUNTING LOGIC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F1796F-FAB3-965F-2919-4257B37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49" y="1062919"/>
            <a:ext cx="7989443" cy="26327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FDF96A0-5ABD-D5CE-7652-AF65078B6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987560"/>
            <a:ext cx="9896475" cy="60579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EB2EC8F-B14D-F751-3CCB-68D46CF22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4044710"/>
            <a:ext cx="80676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1028700" y="9253538"/>
            <a:ext cx="9605554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flipH="1" flipV="1">
            <a:off x="11842676" y="1028700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162027" y="159966"/>
                </a:moveTo>
                <a:lnTo>
                  <a:pt x="0" y="159966"/>
                </a:lnTo>
                <a:lnTo>
                  <a:pt x="0" y="0"/>
                </a:lnTo>
                <a:lnTo>
                  <a:pt x="162027" y="0"/>
                </a:lnTo>
                <a:lnTo>
                  <a:pt x="162027" y="1599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81600" y="647700"/>
            <a:ext cx="6964304" cy="3115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33"/>
              </a:lnSpc>
            </a:pPr>
            <a:r>
              <a:rPr lang="en-US" sz="6600" spc="-521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REAL PROBLEMS</a:t>
            </a:r>
          </a:p>
          <a:p>
            <a:pPr algn="l">
              <a:lnSpc>
                <a:spcPts val="8233"/>
              </a:lnSpc>
            </a:pPr>
            <a:r>
              <a:rPr lang="en-US" sz="6600" spc="-521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         AND</a:t>
            </a:r>
          </a:p>
          <a:p>
            <a:pPr algn="l">
              <a:lnSpc>
                <a:spcPts val="8233"/>
              </a:lnSpc>
            </a:pPr>
            <a:r>
              <a:rPr lang="en-US" sz="6600" spc="-521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CHALLENGES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842676" y="9164390"/>
            <a:ext cx="5416624" cy="93910"/>
            <a:chOff x="0" y="0"/>
            <a:chExt cx="1426601" cy="247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26601" cy="24733"/>
            </a:xfrm>
            <a:custGeom>
              <a:avLst/>
              <a:gdLst/>
              <a:ahLst/>
              <a:cxnLst/>
              <a:rect l="l" t="t" r="r" b="b"/>
              <a:pathLst>
                <a:path w="1426601" h="24733">
                  <a:moveTo>
                    <a:pt x="0" y="0"/>
                  </a:moveTo>
                  <a:lnTo>
                    <a:pt x="1426601" y="0"/>
                  </a:lnTo>
                  <a:lnTo>
                    <a:pt x="1426601" y="24733"/>
                  </a:lnTo>
                  <a:lnTo>
                    <a:pt x="0" y="247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426601" cy="53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082CA1E0-2EFA-36A9-2600-1AD9FEBA1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488" y="341701"/>
            <a:ext cx="6477000" cy="873800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241EE9C-16E3-349F-CC99-DA699C9DA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95287"/>
            <a:ext cx="3786189" cy="32763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ADC3ED0-8F33-07CD-20D3-2543BA616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058010"/>
            <a:ext cx="10138954" cy="49004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04482" y="3850846"/>
            <a:ext cx="9464176" cy="5330001"/>
            <a:chOff x="0" y="0"/>
            <a:chExt cx="5053534" cy="28460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53534" cy="2846031"/>
            </a:xfrm>
            <a:custGeom>
              <a:avLst/>
              <a:gdLst/>
              <a:ahLst/>
              <a:cxnLst/>
              <a:rect l="l" t="t" r="r" b="b"/>
              <a:pathLst>
                <a:path w="5053534" h="2846031">
                  <a:moveTo>
                    <a:pt x="0" y="0"/>
                  </a:moveTo>
                  <a:lnTo>
                    <a:pt x="5053534" y="0"/>
                  </a:lnTo>
                  <a:lnTo>
                    <a:pt x="5053534" y="2846031"/>
                  </a:lnTo>
                  <a:lnTo>
                    <a:pt x="0" y="2846031"/>
                  </a:lnTo>
                  <a:close/>
                </a:path>
              </a:pathLst>
            </a:custGeom>
            <a:blipFill>
              <a:blip r:embed="rId2"/>
              <a:stretch>
                <a:fillRect t="-50" b="-50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1204482" y="2857500"/>
            <a:ext cx="9464176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flipH="1" flipV="1">
            <a:off x="1032929" y="8218536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162028" y="159965"/>
                </a:moveTo>
                <a:lnTo>
                  <a:pt x="0" y="159965"/>
                </a:lnTo>
                <a:lnTo>
                  <a:pt x="0" y="0"/>
                </a:lnTo>
                <a:lnTo>
                  <a:pt x="162028" y="0"/>
                </a:lnTo>
                <a:lnTo>
                  <a:pt x="162028" y="1599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99719" y="3210171"/>
            <a:ext cx="9464176" cy="172953"/>
            <a:chOff x="0" y="0"/>
            <a:chExt cx="2492622" cy="45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92622" cy="45552"/>
            </a:xfrm>
            <a:custGeom>
              <a:avLst/>
              <a:gdLst/>
              <a:ahLst/>
              <a:cxnLst/>
              <a:rect l="l" t="t" r="r" b="b"/>
              <a:pathLst>
                <a:path w="2492622" h="45552">
                  <a:moveTo>
                    <a:pt x="0" y="0"/>
                  </a:moveTo>
                  <a:lnTo>
                    <a:pt x="2492622" y="0"/>
                  </a:lnTo>
                  <a:lnTo>
                    <a:pt x="2492622" y="45552"/>
                  </a:lnTo>
                  <a:lnTo>
                    <a:pt x="0" y="4555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492622" cy="74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194957" y="9486900"/>
            <a:ext cx="9464176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743223-8875-04EF-2F8B-669029EB0E84}"/>
              </a:ext>
            </a:extLst>
          </p:cNvPr>
          <p:cNvSpPr txBox="1"/>
          <p:nvPr/>
        </p:nvSpPr>
        <p:spPr>
          <a:xfrm>
            <a:off x="4924424" y="921487"/>
            <a:ext cx="11229976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TECHNOLOGY AND SKILLS APPLIED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1745F83-1304-47C1-FA54-EC8915976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050" y="3296647"/>
            <a:ext cx="7101318" cy="28024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29EAD88-AA96-E963-FB36-682708088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52009"/>
            <a:ext cx="7089357" cy="3030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7239000" y="2476500"/>
            <a:ext cx="4325161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324600" y="629832"/>
            <a:ext cx="7436545" cy="76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1"/>
              </a:lnSpc>
            </a:pPr>
            <a:r>
              <a:rPr lang="en-US" sz="6925" spc="-346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SOCIAL AND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28106" y="1567410"/>
            <a:ext cx="8233039" cy="763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71"/>
              </a:lnSpc>
            </a:pPr>
            <a:r>
              <a:rPr lang="en-US" sz="6925" b="1" spc="-346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PRACTICAL NEEDS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25922" y="8152185"/>
            <a:ext cx="3142517" cy="21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14" dirty="0">
                <a:solidFill>
                  <a:srgbClr val="121212"/>
                </a:solidFill>
                <a:latin typeface="Telegraf"/>
                <a:ea typeface="Telegraf"/>
                <a:cs typeface="Telegraf"/>
                <a:sym typeface="Telegraf"/>
              </a:rPr>
              <a:t>communication.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6EC4E8F-5EC1-F944-E8E0-3ABFDE7F7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25" y="2857500"/>
            <a:ext cx="8763000" cy="69698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628536" cy="10287000"/>
            <a:chOff x="0" y="0"/>
            <a:chExt cx="4073368" cy="5492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73368" cy="5492893"/>
            </a:xfrm>
            <a:custGeom>
              <a:avLst/>
              <a:gdLst/>
              <a:ahLst/>
              <a:cxnLst/>
              <a:rect l="l" t="t" r="r" b="b"/>
              <a:pathLst>
                <a:path w="4073368" h="5492893">
                  <a:moveTo>
                    <a:pt x="0" y="0"/>
                  </a:moveTo>
                  <a:lnTo>
                    <a:pt x="4073368" y="0"/>
                  </a:lnTo>
                  <a:lnTo>
                    <a:pt x="4073368" y="5492893"/>
                  </a:lnTo>
                  <a:lnTo>
                    <a:pt x="0" y="5492893"/>
                  </a:lnTo>
                  <a:close/>
                </a:path>
              </a:pathLst>
            </a:custGeom>
            <a:blipFill>
              <a:blip r:embed="rId2"/>
              <a:stretch>
                <a:fillRect t="-5652" b="-5652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9201324" y="4593502"/>
            <a:ext cx="5381428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flipV="1">
            <a:off x="17097272" y="1028700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0" y="159966"/>
                </a:moveTo>
                <a:lnTo>
                  <a:pt x="162028" y="159966"/>
                </a:lnTo>
                <a:lnTo>
                  <a:pt x="162028" y="0"/>
                </a:lnTo>
                <a:lnTo>
                  <a:pt x="0" y="0"/>
                </a:lnTo>
                <a:lnTo>
                  <a:pt x="0" y="1599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9144000" y="9253538"/>
            <a:ext cx="5438753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7628536" y="0"/>
            <a:ext cx="198816" cy="10287000"/>
            <a:chOff x="0" y="0"/>
            <a:chExt cx="52363" cy="270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363" cy="2709333"/>
            </a:xfrm>
            <a:custGeom>
              <a:avLst/>
              <a:gdLst/>
              <a:ahLst/>
              <a:cxnLst/>
              <a:rect l="l" t="t" r="r" b="b"/>
              <a:pathLst>
                <a:path w="52363" h="2709333">
                  <a:moveTo>
                    <a:pt x="0" y="0"/>
                  </a:moveTo>
                  <a:lnTo>
                    <a:pt x="52363" y="0"/>
                  </a:lnTo>
                  <a:lnTo>
                    <a:pt x="523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5236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94344" y="2512935"/>
            <a:ext cx="7902928" cy="169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98"/>
              </a:lnSpc>
            </a:pPr>
            <a:r>
              <a:rPr lang="en-US" sz="13795" b="1" spc="-68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YOU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94344" y="1154343"/>
            <a:ext cx="7902928" cy="169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98"/>
              </a:lnSpc>
            </a:pPr>
            <a:r>
              <a:rPr lang="en-US" sz="13795" spc="-68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THANK</a:t>
            </a:r>
          </a:p>
        </p:txBody>
      </p:sp>
      <p:sp>
        <p:nvSpPr>
          <p:cNvPr id="24" name="Freeform 24"/>
          <p:cNvSpPr/>
          <p:nvPr/>
        </p:nvSpPr>
        <p:spPr>
          <a:xfrm flipH="1">
            <a:off x="9144000" y="8634222"/>
            <a:ext cx="162028" cy="159966"/>
          </a:xfrm>
          <a:custGeom>
            <a:avLst/>
            <a:gdLst/>
            <a:ahLst/>
            <a:cxnLst/>
            <a:rect l="l" t="t" r="r" b="b"/>
            <a:pathLst>
              <a:path w="162028" h="159966">
                <a:moveTo>
                  <a:pt x="162028" y="0"/>
                </a:moveTo>
                <a:lnTo>
                  <a:pt x="0" y="0"/>
                </a:lnTo>
                <a:lnTo>
                  <a:pt x="0" y="159965"/>
                </a:lnTo>
                <a:lnTo>
                  <a:pt x="162028" y="159965"/>
                </a:lnTo>
                <a:lnTo>
                  <a:pt x="16202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115</Words>
  <Application>Microsoft Office PowerPoint</Application>
  <PresentationFormat>Custom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Telegraf</vt:lpstr>
      <vt:lpstr>Telegraf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Electronics Industry Presentation</dc:title>
  <dc:creator>T Meghana</dc:creator>
  <cp:lastModifiedBy>meghana reddy</cp:lastModifiedBy>
  <cp:revision>4</cp:revision>
  <dcterms:created xsi:type="dcterms:W3CDTF">2006-08-16T00:00:00Z</dcterms:created>
  <dcterms:modified xsi:type="dcterms:W3CDTF">2026-09-11T09:35:12Z</dcterms:modified>
  <dc:identifier>DAG_6Dt80M0</dc:identifier>
</cp:coreProperties>
</file>